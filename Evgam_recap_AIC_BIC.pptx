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92"/>
    <p:restoredTop sz="94706"/>
  </p:normalViewPr>
  <p:slideViewPr>
    <p:cSldViewPr snapToGrid="0">
      <p:cViewPr varScale="1">
        <p:scale>
          <a:sx n="82" d="100"/>
          <a:sy n="82" d="100"/>
        </p:scale>
        <p:origin x="140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8439A-8274-F223-0023-5F85DF19F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721017-6BD4-5C79-2071-266C4B22F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8D1A7-DB15-22B5-CBD5-0F46FD70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8BCF-E1E6-764B-8B0A-EDF79670805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E6BA0-360B-A3CF-5D6A-04E5FF9ED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234CA-5668-201D-A9A1-11FD6A18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2E55F-8318-214F-AB8A-2E954F21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19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CD671-01A8-D0A0-3F8F-27F69E506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F0829-2030-832F-74C7-6E6ACF400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8C86-0DF6-264F-FE77-15AA3A8F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8BCF-E1E6-764B-8B0A-EDF79670805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7DFA1-8BCC-ABE3-0D30-98588969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C924C-18C7-3354-2485-69148D23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2E55F-8318-214F-AB8A-2E954F21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45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9377A-07DA-EF72-52E2-1968FFD92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5B4EE-D97C-9BB9-6295-5C47C2F02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1183F-6441-E2F3-097F-45A7033D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8BCF-E1E6-764B-8B0A-EDF79670805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F75B8-F196-8B4A-7F1F-512429337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EBF17-86F1-FD25-2DB3-E72E02E2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2E55F-8318-214F-AB8A-2E954F21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91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2FC27-8D87-0C0D-23EC-34D1E3F28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26990-B26E-5E6C-8D1C-7D189460BA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EC147E-E8DF-7F88-04CB-3A10FAADE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A991F-FF1A-6601-A80C-671B0B72E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8BCF-E1E6-764B-8B0A-EDF79670805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93E87-E40E-1F87-3636-9F4F75DB6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102BB-21FE-9164-6F04-762265D2C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2E55F-8318-214F-AB8A-2E954F21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542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445B2-108B-3D37-FA80-5E577C737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B8BDF-0D86-B4EC-6A2E-833A05813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54BC2-9DED-6FFD-ADD4-73F094ABE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3251AE-62D7-8DEA-25F1-698BF2D8F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A78F9A-C5ED-F85C-A752-E977EFCD9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5B014E-F961-7A83-37C2-E1E633B23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8BCF-E1E6-764B-8B0A-EDF79670805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193C3D-8FB9-64B3-092C-D9023AEC1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F137A-035D-AE76-C247-7AFB77342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2E55F-8318-214F-AB8A-2E954F21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7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3C879-B834-1BD2-F70E-6FD910588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1FB188-4A7B-60B6-8867-129846DF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8BCF-E1E6-764B-8B0A-EDF79670805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C4E088-CB2C-BE7B-220B-D1F810BE7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210EC-4474-57CC-41F7-4D92E6FCB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2E55F-8318-214F-AB8A-2E954F21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4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B54A70-B3BA-BE1B-6C71-6ACC6EC4D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8BCF-E1E6-764B-8B0A-EDF79670805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40C469-E74B-4F41-F691-BBA7C165B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5EEB9-B425-319E-0470-74047B28F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2E55F-8318-214F-AB8A-2E954F21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93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2A1D-F33A-2475-E673-7A82C988A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F5CB1-080B-3A75-48FD-684FA4255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11B77-D0F7-3B85-F16A-DA37BACFE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5BDD3-CAA1-3F80-F688-1EA60978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8BCF-E1E6-764B-8B0A-EDF79670805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66D61-F224-AB3E-38EE-75EB55893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43833-0E13-8DFB-4025-608F3D4BF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2E55F-8318-214F-AB8A-2E954F21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79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53FC8-0165-69E9-E834-5D83602D9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8A12C4-AAE0-1F72-4CE6-C59494DF10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BA5B6-3F49-FE16-96FB-CDC26C103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59419-1528-861D-0F2C-925B15C72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8BCF-E1E6-764B-8B0A-EDF79670805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8560E-A769-729E-9F04-3B5BC59D4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A9A07-902A-DB36-C415-4E5B19610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2E55F-8318-214F-AB8A-2E954F21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1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269A-B011-78B7-D515-6004B25AD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EBF01-A930-FCB0-80C5-5C26F386E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93E8B-2357-621E-5628-EACB3814E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8BCF-E1E6-764B-8B0A-EDF79670805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B1FE5-9EBE-2DB1-BAC4-8809B1B79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9E858-8F4B-E450-FED2-BDD5003FF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2E55F-8318-214F-AB8A-2E954F21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0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D5D5AB-6C10-8007-A1C0-59EC87010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9E93D-C69B-8E32-DC91-32943878C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1B207-9C35-48A2-78D1-FBF0FB5A1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8BCF-E1E6-764B-8B0A-EDF79670805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78CE6-F88D-6D43-D2B1-48785175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32ACF-CC33-551E-8E50-7C7ED6EF4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2E55F-8318-214F-AB8A-2E954F21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5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5A8E8-D1FA-B666-8F26-BBCF5225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F63AE-7279-1C7B-37C6-ECD0C8396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8D96B-A382-0FBB-425D-700EA90117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88BCF-E1E6-764B-8B0A-EDF79670805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56BE4-27E5-94D8-9535-CB790FAC65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27358-0BF6-6977-C36C-CAC5CE097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2E55F-8318-214F-AB8A-2E954F21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12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D76CB5-CBB7-50B9-E5F0-7715482A7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232561"/>
              </p:ext>
            </p:extLst>
          </p:nvPr>
        </p:nvGraphicFramePr>
        <p:xfrm>
          <a:off x="0" y="564686"/>
          <a:ext cx="12192000" cy="989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6772">
                  <a:extLst>
                    <a:ext uri="{9D8B030D-6E8A-4147-A177-3AD203B41FA5}">
                      <a16:colId xmlns:a16="http://schemas.microsoft.com/office/drawing/2014/main" val="3683685138"/>
                    </a:ext>
                  </a:extLst>
                </a:gridCol>
                <a:gridCol w="1198180">
                  <a:extLst>
                    <a:ext uri="{9D8B030D-6E8A-4147-A177-3AD203B41FA5}">
                      <a16:colId xmlns:a16="http://schemas.microsoft.com/office/drawing/2014/main" val="2324688406"/>
                    </a:ext>
                  </a:extLst>
                </a:gridCol>
                <a:gridCol w="2795751">
                  <a:extLst>
                    <a:ext uri="{9D8B030D-6E8A-4147-A177-3AD203B41FA5}">
                      <a16:colId xmlns:a16="http://schemas.microsoft.com/office/drawing/2014/main" val="2364268393"/>
                    </a:ext>
                  </a:extLst>
                </a:gridCol>
                <a:gridCol w="1135118">
                  <a:extLst>
                    <a:ext uri="{9D8B030D-6E8A-4147-A177-3AD203B41FA5}">
                      <a16:colId xmlns:a16="http://schemas.microsoft.com/office/drawing/2014/main" val="2160045013"/>
                    </a:ext>
                  </a:extLst>
                </a:gridCol>
                <a:gridCol w="1713186">
                  <a:extLst>
                    <a:ext uri="{9D8B030D-6E8A-4147-A177-3AD203B41FA5}">
                      <a16:colId xmlns:a16="http://schemas.microsoft.com/office/drawing/2014/main" val="3317236277"/>
                    </a:ext>
                  </a:extLst>
                </a:gridCol>
                <a:gridCol w="987972">
                  <a:extLst>
                    <a:ext uri="{9D8B030D-6E8A-4147-A177-3AD203B41FA5}">
                      <a16:colId xmlns:a16="http://schemas.microsoft.com/office/drawing/2014/main" val="3177954016"/>
                    </a:ext>
                  </a:extLst>
                </a:gridCol>
                <a:gridCol w="767255">
                  <a:extLst>
                    <a:ext uri="{9D8B030D-6E8A-4147-A177-3AD203B41FA5}">
                      <a16:colId xmlns:a16="http://schemas.microsoft.com/office/drawing/2014/main" val="809314630"/>
                    </a:ext>
                  </a:extLst>
                </a:gridCol>
                <a:gridCol w="777766">
                  <a:extLst>
                    <a:ext uri="{9D8B030D-6E8A-4147-A177-3AD203B41FA5}">
                      <a16:colId xmlns:a16="http://schemas.microsoft.com/office/drawing/2014/main" val="360143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</a:t>
                      </a:r>
                      <a:r>
                        <a:rPr lang="en-US" dirty="0"/>
                        <a:t>(&gt;|t|)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</a:t>
                      </a:r>
                      <a:r>
                        <a:rPr lang="en-US" dirty="0"/>
                        <a:t>(&gt;|t|)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</a:t>
                      </a:r>
                      <a:r>
                        <a:rPr lang="en-US" dirty="0"/>
                        <a:t>(&gt;|t|)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025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 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 &lt;2e-16</a:t>
                      </a:r>
                    </a:p>
                    <a:p>
                      <a:r>
                        <a:rPr lang="en-US" sz="1200" baseline="0" dirty="0"/>
                        <a:t>s(cell):&lt;2e-16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 1.25e-13</a:t>
                      </a:r>
                    </a:p>
                    <a:p>
                      <a:r>
                        <a:rPr lang="en-US" sz="1200" baseline="0" dirty="0"/>
                        <a:t>s(cell): </a:t>
                      </a:r>
                    </a:p>
                    <a:p>
                      <a:r>
                        <a:rPr lang="en-US" sz="1200" baseline="0" dirty="0"/>
                        <a:t>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s(elevation):7.67e-15</a:t>
                      </a:r>
                    </a:p>
                    <a:p>
                      <a:r>
                        <a:rPr lang="en-US" sz="1200" baseline="0" dirty="0"/>
                        <a:t>s(cell:  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662522.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663934.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09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):</a:t>
                      </a:r>
                    </a:p>
                    <a:p>
                      <a:r>
                        <a:rPr lang="en-US" sz="1200" baseline="0" dirty="0"/>
                        <a:t>&lt;2e-16</a:t>
                      </a:r>
                    </a:p>
                    <a:p>
                      <a:r>
                        <a:rPr lang="en-US" sz="1200" baseline="0" dirty="0"/>
                        <a:t>s(cell): &lt;2e-16</a:t>
                      </a:r>
                    </a:p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</a:t>
                      </a:r>
                    </a:p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):</a:t>
                      </a:r>
                    </a:p>
                    <a:p>
                      <a:r>
                        <a:rPr lang="en-US" sz="1200" baseline="0" dirty="0"/>
                        <a:t>&lt;2e-16</a:t>
                      </a:r>
                    </a:p>
                    <a:p>
                      <a:r>
                        <a:rPr lang="en-US" sz="1200" baseline="0" dirty="0"/>
                        <a:t>s(cell): 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): &lt;2e-16</a:t>
                      </a:r>
                    </a:p>
                    <a:p>
                      <a:r>
                        <a:rPr lang="en-US" sz="1200" baseline="0" dirty="0"/>
                        <a:t>s(cell): 9.79e-13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661320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662286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33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</a:t>
                      </a:r>
                    </a:p>
                    <a:p>
                      <a:r>
                        <a:rPr lang="en-US" sz="1200" baseline="0" dirty="0"/>
                        <a:t> 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 + </a:t>
                      </a:r>
                    </a:p>
                    <a:p>
                      <a:r>
                        <a:rPr lang="en-US" sz="1200" baseline="0" dirty="0"/>
                        <a:t>s(glost, k = 30,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</a:t>
                      </a:r>
                    </a:p>
                    <a:p>
                      <a:r>
                        <a:rPr lang="en-US" sz="1200" baseline="0" dirty="0"/>
                        <a:t>&lt;2e-16</a:t>
                      </a:r>
                    </a:p>
                    <a:p>
                      <a:r>
                        <a:rPr lang="en-US" sz="1200" baseline="0" dirty="0"/>
                        <a:t>s(cell): &lt;2e-16</a:t>
                      </a:r>
                    </a:p>
                    <a:p>
                      <a:r>
                        <a:rPr lang="en-US" sz="1200" baseline="0" dirty="0"/>
                        <a:t>s(glost): 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 + </a:t>
                      </a:r>
                    </a:p>
                    <a:p>
                      <a:r>
                        <a:rPr lang="en-US" sz="1200" baseline="0" dirty="0"/>
                        <a:t>s(glost, k = 30,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 &lt;2e-16</a:t>
                      </a:r>
                    </a:p>
                    <a:p>
                      <a:r>
                        <a:rPr lang="en-US" sz="1200" baseline="0" dirty="0"/>
                        <a:t>s(cell):&lt;2e-16</a:t>
                      </a:r>
                    </a:p>
                    <a:p>
                      <a:r>
                        <a:rPr lang="en-US" sz="1200" baseline="0" dirty="0"/>
                        <a:t>s(glost):</a:t>
                      </a:r>
                    </a:p>
                    <a:p>
                      <a:r>
                        <a:rPr lang="en-US" sz="1200" baseline="0" dirty="0"/>
                        <a:t>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s(elevation):&lt;2e-16</a:t>
                      </a:r>
                    </a:p>
                    <a:p>
                      <a:r>
                        <a:rPr lang="en-US" sz="1200" baseline="0" dirty="0"/>
                        <a:t>s(cell): &lt;2e-16</a:t>
                      </a:r>
                    </a:p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682464.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682632.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1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 + </a:t>
                      </a:r>
                    </a:p>
                    <a:p>
                      <a:r>
                        <a:rPr lang="en-US" sz="1200" baseline="0" dirty="0"/>
                        <a:t>s(cell, k = 12,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),</a:t>
                      </a:r>
                    </a:p>
                    <a:p>
                      <a:r>
                        <a:rPr lang="en-US" sz="1200" baseline="0" dirty="0"/>
                        <a:t>    by = glost)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</a:t>
                      </a:r>
                    </a:p>
                    <a:p>
                      <a:r>
                        <a:rPr lang="en-US" sz="1200" baseline="0" dirty="0"/>
                        <a:t>&lt;2e-16</a:t>
                      </a:r>
                    </a:p>
                    <a:p>
                      <a:r>
                        <a:rPr lang="en-US" sz="1200" baseline="0" dirty="0"/>
                        <a:t>s(cell): &lt;2e-16</a:t>
                      </a:r>
                    </a:p>
                    <a:p>
                      <a:r>
                        <a:rPr lang="en-US" sz="1200" baseline="0" dirty="0"/>
                        <a:t>s(cell):glost:</a:t>
                      </a:r>
                    </a:p>
                    <a:p>
                      <a:r>
                        <a:rPr lang="en-US" sz="1200" baseline="0" dirty="0"/>
                        <a:t>&lt;2e-16</a:t>
                      </a:r>
                    </a:p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 + </a:t>
                      </a:r>
                    </a:p>
                    <a:p>
                      <a:r>
                        <a:rPr lang="en-US" sz="1200" baseline="0" dirty="0"/>
                        <a:t>s(cell, k = 12,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),</a:t>
                      </a:r>
                    </a:p>
                    <a:p>
                      <a:r>
                        <a:rPr lang="en-US" sz="1200" baseline="0" dirty="0"/>
                        <a:t>    by = glost)</a:t>
                      </a:r>
                    </a:p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 1.1e-07</a:t>
                      </a:r>
                    </a:p>
                    <a:p>
                      <a:r>
                        <a:rPr lang="en-US" sz="1200" baseline="0" dirty="0"/>
                        <a:t>s(cell):</a:t>
                      </a:r>
                    </a:p>
                    <a:p>
                      <a:r>
                        <a:rPr lang="en-US" sz="1200" baseline="0" dirty="0"/>
                        <a:t>&lt;2e-16</a:t>
                      </a:r>
                    </a:p>
                    <a:p>
                      <a:r>
                        <a:rPr lang="en-US" sz="1200" baseline="0" dirty="0"/>
                        <a:t>s(cell):glost: 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</a:t>
                      </a:r>
                    </a:p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s(elevation):9.35e-08</a:t>
                      </a:r>
                    </a:p>
                    <a:p>
                      <a:r>
                        <a:rPr lang="en-US" sz="1200" baseline="0" dirty="0"/>
                        <a:t>s(cell): &lt;2e-16</a:t>
                      </a:r>
                    </a:p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651555.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653189.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388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 + </a:t>
                      </a:r>
                    </a:p>
                    <a:p>
                      <a:r>
                        <a:rPr lang="en-US" sz="1200" baseline="0" dirty="0"/>
                        <a:t>s(cell, k = 12,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),</a:t>
                      </a:r>
                    </a:p>
                    <a:p>
                      <a:r>
                        <a:rPr lang="en-US" sz="1200" baseline="0" dirty="0"/>
                        <a:t>    by = glost)</a:t>
                      </a:r>
                    </a:p>
                  </a:txBody>
                  <a:tcPr>
                    <a:solidFill>
                      <a:srgbClr val="F9E9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): &lt;2e-16</a:t>
                      </a:r>
                    </a:p>
                    <a:p>
                      <a:r>
                        <a:rPr lang="en-US" sz="1200" baseline="0" dirty="0"/>
                        <a:t>s(cell): &lt;2e-16</a:t>
                      </a:r>
                    </a:p>
                    <a:p>
                      <a:r>
                        <a:rPr lang="en-US" sz="1200" baseline="0" dirty="0"/>
                        <a:t>s(cell):glost   &lt;2e-16</a:t>
                      </a:r>
                    </a:p>
                  </a:txBody>
                  <a:tcPr>
                    <a:solidFill>
                      <a:srgbClr val="F9E9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 + </a:t>
                      </a:r>
                    </a:p>
                    <a:p>
                      <a:r>
                        <a:rPr lang="en-US" sz="1200" baseline="0" dirty="0"/>
                        <a:t>s(cell, k = 12,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),</a:t>
                      </a:r>
                    </a:p>
                    <a:p>
                      <a:r>
                        <a:rPr lang="en-US" sz="1200" baseline="0" dirty="0"/>
                        <a:t>    by = glost)</a:t>
                      </a:r>
                    </a:p>
                  </a:txBody>
                  <a:tcPr>
                    <a:solidFill>
                      <a:srgbClr val="F9E9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): &lt;2e-16</a:t>
                      </a:r>
                    </a:p>
                    <a:p>
                      <a:r>
                        <a:rPr lang="en-US" sz="1200" baseline="0" dirty="0"/>
                        <a:t>s(cell): &lt;2e-16</a:t>
                      </a:r>
                    </a:p>
                    <a:p>
                      <a:r>
                        <a:rPr lang="en-US" sz="1200" baseline="0" dirty="0"/>
                        <a:t>s(cell):glost   &lt;2e-16</a:t>
                      </a:r>
                    </a:p>
                  </a:txBody>
                  <a:tcPr>
                    <a:solidFill>
                      <a:srgbClr val="F9E9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</a:t>
                      </a:r>
                    </a:p>
                  </a:txBody>
                  <a:tcPr>
                    <a:solidFill>
                      <a:srgbClr val="F9E9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): &lt;2e-16</a:t>
                      </a:r>
                    </a:p>
                    <a:p>
                      <a:r>
                        <a:rPr lang="en-US" sz="1200" baseline="0" dirty="0"/>
                        <a:t>s(cell): &lt;2e-16</a:t>
                      </a:r>
                    </a:p>
                  </a:txBody>
                  <a:tcPr>
                    <a:solidFill>
                      <a:srgbClr val="F9E9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649566</a:t>
                      </a:r>
                    </a:p>
                  </a:txBody>
                  <a:tcPr>
                    <a:solidFill>
                      <a:srgbClr val="F9E9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651158</a:t>
                      </a:r>
                    </a:p>
                  </a:txBody>
                  <a:tcPr>
                    <a:solidFill>
                      <a:srgbClr val="F9E9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893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 + s(cell, k = 12,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),by = glost)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 &lt;2e-16</a:t>
                      </a:r>
                    </a:p>
                    <a:p>
                      <a:r>
                        <a:rPr lang="en-US" sz="1200" baseline="0" dirty="0"/>
                        <a:t>s(cell): 0.753</a:t>
                      </a:r>
                    </a:p>
                    <a:p>
                      <a:r>
                        <a:rPr lang="en-US" sz="1200" baseline="0" dirty="0"/>
                        <a:t>s(cell):glost: 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 + s(cell, k = 12,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),by = glost)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 &lt;2e-16</a:t>
                      </a:r>
                    </a:p>
                    <a:p>
                      <a:r>
                        <a:rPr lang="en-US" sz="1200" baseline="0" dirty="0"/>
                        <a:t>s(cell): &lt;2e-16</a:t>
                      </a:r>
                    </a:p>
                    <a:p>
                      <a:r>
                        <a:rPr lang="en-US" sz="1200" baseline="0" dirty="0"/>
                        <a:t>s(cell):glost: 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 + s(cell, k = 12,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),by = glost)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 &lt;2e-16</a:t>
                      </a:r>
                    </a:p>
                    <a:p>
                      <a:r>
                        <a:rPr lang="en-US" sz="1200" baseline="0" dirty="0"/>
                        <a:t>s(cell): &lt;2e-16</a:t>
                      </a:r>
                    </a:p>
                    <a:p>
                      <a:r>
                        <a:rPr lang="en-US" sz="1200" baseline="0" dirty="0"/>
                        <a:t>s(cell):glost: 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709733.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710761.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41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 + s(cell, k = 12,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),by = glost)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): &lt;2e-16</a:t>
                      </a:r>
                    </a:p>
                    <a:p>
                      <a:r>
                        <a:rPr lang="en-US" sz="1200" baseline="0" dirty="0"/>
                        <a:t>s(cell): &lt;2e-16</a:t>
                      </a:r>
                    </a:p>
                    <a:p>
                      <a:r>
                        <a:rPr lang="en-US" sz="1200" baseline="0" dirty="0"/>
                        <a:t>s(cell):glost: 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 + s(cell, k = 12,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),by = glost)</a:t>
                      </a:r>
                    </a:p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): &lt;2e-16</a:t>
                      </a:r>
                    </a:p>
                    <a:p>
                      <a:r>
                        <a:rPr lang="en-US" sz="1200" baseline="0" dirty="0"/>
                        <a:t>s(cell): &lt;2e-16</a:t>
                      </a:r>
                    </a:p>
                    <a:p>
                      <a:r>
                        <a:rPr lang="en-US" sz="1200" baseline="0" dirty="0"/>
                        <a:t>s(cell):glost: &lt;2e-16</a:t>
                      </a:r>
                    </a:p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 + s(cell, k = 12,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),by = glost)</a:t>
                      </a:r>
                    </a:p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</a:t>
                      </a:r>
                      <a:r>
                        <a:rPr lang="en-US" sz="1200" baseline="0" dirty="0" err="1"/>
                        <a:t>DJFtas</a:t>
                      </a:r>
                      <a:r>
                        <a:rPr lang="en-US" sz="1200" baseline="0" dirty="0"/>
                        <a:t>): &lt;2e-16</a:t>
                      </a:r>
                    </a:p>
                    <a:p>
                      <a:r>
                        <a:rPr lang="en-US" sz="1200" baseline="0" dirty="0"/>
                        <a:t>s(cell): &lt;2e-16</a:t>
                      </a:r>
                    </a:p>
                    <a:p>
                      <a:r>
                        <a:rPr lang="en-US" sz="1200" baseline="0" dirty="0"/>
                        <a:t>s(cell):glost: &lt;2e-16</a:t>
                      </a:r>
                    </a:p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696071.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696097.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841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aseline="0" dirty="0" err="1"/>
                        <a:t>te</a:t>
                      </a:r>
                      <a:r>
                        <a:rPr lang="en-US" sz="1200" baseline="0" dirty="0"/>
                        <a:t>(elevation, cell, bs = c("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"), k = c(10, 50),</a:t>
                      </a:r>
                    </a:p>
                    <a:p>
                      <a:r>
                        <a:rPr lang="en-US" sz="1200" baseline="0" dirty="0"/>
                        <a:t>   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 + s(cell, k = 12,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),</a:t>
                      </a:r>
                    </a:p>
                    <a:p>
                      <a:r>
                        <a:rPr lang="en-US" sz="1200" baseline="0" dirty="0"/>
                        <a:t>    by = glost)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 err="1"/>
                        <a:t>te</a:t>
                      </a:r>
                      <a:r>
                        <a:rPr lang="en-US" sz="1200" baseline="0" dirty="0"/>
                        <a:t>(</a:t>
                      </a:r>
                      <a:r>
                        <a:rPr lang="en-US" sz="1200" baseline="0" dirty="0" err="1"/>
                        <a:t>elevation,cell</a:t>
                      </a:r>
                      <a:r>
                        <a:rPr lang="en-US" sz="1200" baseline="0" dirty="0"/>
                        <a:t>): 0.521</a:t>
                      </a:r>
                    </a:p>
                    <a:p>
                      <a:r>
                        <a:rPr lang="en-US" sz="1200" baseline="0" dirty="0"/>
                        <a:t>s(cell):glost: 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 err="1"/>
                        <a:t>te</a:t>
                      </a:r>
                      <a:r>
                        <a:rPr lang="en-US" sz="1200" baseline="0" dirty="0"/>
                        <a:t>(elevation, cell, bs = c("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"), k = c(10, 50),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 +</a:t>
                      </a:r>
                    </a:p>
                    <a:p>
                      <a:r>
                        <a:rPr lang="en-US" sz="1200" baseline="0" dirty="0"/>
                        <a:t>    s(cell, k = 12,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), by = glost)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 err="1"/>
                        <a:t>te</a:t>
                      </a:r>
                      <a:r>
                        <a:rPr lang="en-US" sz="1200" baseline="0" dirty="0"/>
                        <a:t>(</a:t>
                      </a:r>
                      <a:r>
                        <a:rPr lang="en-US" sz="1200" baseline="0" dirty="0" err="1"/>
                        <a:t>elevation,cell</a:t>
                      </a:r>
                      <a:r>
                        <a:rPr lang="en-US" sz="1200" baseline="0" dirty="0"/>
                        <a:t>): &lt;2e-16</a:t>
                      </a:r>
                    </a:p>
                    <a:p>
                      <a:r>
                        <a:rPr lang="en-US" sz="1200" baseline="0" dirty="0"/>
                        <a:t>s(cell):glost: &lt;2e-16</a:t>
                      </a:r>
                    </a:p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 err="1"/>
                        <a:t>te</a:t>
                      </a:r>
                      <a:r>
                        <a:rPr lang="en-US" sz="1200" baseline="0" dirty="0"/>
                        <a:t>(elevation, cell, bs = c("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"), k = c(10, 50),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aseline="0" dirty="0" err="1"/>
                        <a:t>te</a:t>
                      </a:r>
                      <a:r>
                        <a:rPr lang="en-US" sz="1200" baseline="0" dirty="0"/>
                        <a:t>(</a:t>
                      </a:r>
                      <a:r>
                        <a:rPr lang="en-US" sz="1200" baseline="0" dirty="0" err="1"/>
                        <a:t>elevation,cell</a:t>
                      </a:r>
                      <a:r>
                        <a:rPr lang="en-US" sz="1200" baseline="0" dirty="0"/>
                        <a:t>): &lt;2e-16</a:t>
                      </a:r>
                    </a:p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702463.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705242.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835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621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9771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46E49F7-0358-5143-E67F-25437598B316}"/>
              </a:ext>
            </a:extLst>
          </p:cNvPr>
          <p:cNvSpPr txBox="1"/>
          <p:nvPr/>
        </p:nvSpPr>
        <p:spPr>
          <a:xfrm>
            <a:off x="4866290" y="33136"/>
            <a:ext cx="30953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Colorado Domain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633F6F-AC49-E807-778B-8EDA7A499AAE}"/>
              </a:ext>
            </a:extLst>
          </p:cNvPr>
          <p:cNvSpPr txBox="1"/>
          <p:nvPr/>
        </p:nvSpPr>
        <p:spPr>
          <a:xfrm>
            <a:off x="0" y="49179"/>
            <a:ext cx="456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p-value displayed is for the smooth terms. </a:t>
            </a:r>
          </a:p>
        </p:txBody>
      </p:sp>
    </p:spTree>
    <p:extLst>
      <p:ext uri="{BB962C8B-B14F-4D97-AF65-F5344CB8AC3E}">
        <p14:creationId xmlns:p14="http://schemas.microsoft.com/office/powerpoint/2010/main" val="2431548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A8D4B-F1CC-072F-A899-8046180D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813602-5379-0914-144B-65F183E01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723536"/>
              </p:ext>
            </p:extLst>
          </p:nvPr>
        </p:nvGraphicFramePr>
        <p:xfrm>
          <a:off x="0" y="719666"/>
          <a:ext cx="12192000" cy="5981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6772">
                  <a:extLst>
                    <a:ext uri="{9D8B030D-6E8A-4147-A177-3AD203B41FA5}">
                      <a16:colId xmlns:a16="http://schemas.microsoft.com/office/drawing/2014/main" val="3683685138"/>
                    </a:ext>
                  </a:extLst>
                </a:gridCol>
                <a:gridCol w="1198180">
                  <a:extLst>
                    <a:ext uri="{9D8B030D-6E8A-4147-A177-3AD203B41FA5}">
                      <a16:colId xmlns:a16="http://schemas.microsoft.com/office/drawing/2014/main" val="2324688406"/>
                    </a:ext>
                  </a:extLst>
                </a:gridCol>
                <a:gridCol w="2795751">
                  <a:extLst>
                    <a:ext uri="{9D8B030D-6E8A-4147-A177-3AD203B41FA5}">
                      <a16:colId xmlns:a16="http://schemas.microsoft.com/office/drawing/2014/main" val="2364268393"/>
                    </a:ext>
                  </a:extLst>
                </a:gridCol>
                <a:gridCol w="1135118">
                  <a:extLst>
                    <a:ext uri="{9D8B030D-6E8A-4147-A177-3AD203B41FA5}">
                      <a16:colId xmlns:a16="http://schemas.microsoft.com/office/drawing/2014/main" val="2160045013"/>
                    </a:ext>
                  </a:extLst>
                </a:gridCol>
                <a:gridCol w="1713186">
                  <a:extLst>
                    <a:ext uri="{9D8B030D-6E8A-4147-A177-3AD203B41FA5}">
                      <a16:colId xmlns:a16="http://schemas.microsoft.com/office/drawing/2014/main" val="3317236277"/>
                    </a:ext>
                  </a:extLst>
                </a:gridCol>
                <a:gridCol w="987972">
                  <a:extLst>
                    <a:ext uri="{9D8B030D-6E8A-4147-A177-3AD203B41FA5}">
                      <a16:colId xmlns:a16="http://schemas.microsoft.com/office/drawing/2014/main" val="3177954016"/>
                    </a:ext>
                  </a:extLst>
                </a:gridCol>
                <a:gridCol w="767255">
                  <a:extLst>
                    <a:ext uri="{9D8B030D-6E8A-4147-A177-3AD203B41FA5}">
                      <a16:colId xmlns:a16="http://schemas.microsoft.com/office/drawing/2014/main" val="809314630"/>
                    </a:ext>
                  </a:extLst>
                </a:gridCol>
                <a:gridCol w="777766">
                  <a:extLst>
                    <a:ext uri="{9D8B030D-6E8A-4147-A177-3AD203B41FA5}">
                      <a16:colId xmlns:a16="http://schemas.microsoft.com/office/drawing/2014/main" val="360143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</a:t>
                      </a:r>
                      <a:r>
                        <a:rPr lang="en-US" dirty="0"/>
                        <a:t>(&gt;|t|)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</a:t>
                      </a:r>
                      <a:r>
                        <a:rPr lang="en-US" dirty="0"/>
                        <a:t>(&gt;|t|)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</a:t>
                      </a:r>
                      <a:r>
                        <a:rPr lang="en-US" dirty="0"/>
                        <a:t>(&gt;|t|)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025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k = 363,xt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 &lt;2e-16</a:t>
                      </a:r>
                    </a:p>
                    <a:p>
                      <a:r>
                        <a:rPr lang="en-US" sz="1200" baseline="0" dirty="0"/>
                        <a:t>s(cell):&lt;2e-16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363,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 &lt;2e-16</a:t>
                      </a:r>
                    </a:p>
                    <a:p>
                      <a:r>
                        <a:rPr lang="en-US" sz="1200" baseline="0" dirty="0"/>
                        <a:t>s(cell): </a:t>
                      </a:r>
                    </a:p>
                    <a:p>
                      <a:r>
                        <a:rPr lang="en-US" sz="1200" baseline="0" dirty="0"/>
                        <a:t>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(cell, k = 363,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</a:t>
                      </a:r>
                    </a:p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s(elevation):&lt;2e-16</a:t>
                      </a:r>
                    </a:p>
                    <a:p>
                      <a:r>
                        <a:rPr lang="en-US" sz="1200" baseline="0" dirty="0"/>
                        <a:t>s(cell:  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6147204.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6147226.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09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k = 50,xt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 &lt;2e-16</a:t>
                      </a:r>
                    </a:p>
                    <a:p>
                      <a:r>
                        <a:rPr lang="en-US" sz="1200" baseline="0" dirty="0"/>
                        <a:t>s(cell):&lt;2e-16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 &lt;2e-16</a:t>
                      </a:r>
                    </a:p>
                    <a:p>
                      <a:r>
                        <a:rPr lang="en-US" sz="1200" baseline="0" dirty="0"/>
                        <a:t>s(cell): </a:t>
                      </a:r>
                    </a:p>
                    <a:p>
                      <a:r>
                        <a:rPr lang="en-US" sz="1200" baseline="0" dirty="0"/>
                        <a:t>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(cell, k = 50,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s(elevation):&lt;2e-16</a:t>
                      </a:r>
                    </a:p>
                    <a:p>
                      <a:r>
                        <a:rPr lang="en-US" sz="1200" baseline="0" dirty="0"/>
                        <a:t>s(cell:  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5582847.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5584601.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33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k = 30,xt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 &lt;2e-16</a:t>
                      </a:r>
                    </a:p>
                    <a:p>
                      <a:r>
                        <a:rPr lang="en-US" sz="1200" baseline="0" dirty="0"/>
                        <a:t>s(cell):&lt;2e-16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30,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 &lt;2e-16</a:t>
                      </a:r>
                    </a:p>
                    <a:p>
                      <a:r>
                        <a:rPr lang="en-US" sz="1200" baseline="0" dirty="0"/>
                        <a:t>s(cell): </a:t>
                      </a:r>
                    </a:p>
                    <a:p>
                      <a:r>
                        <a:rPr lang="en-US" sz="1200" baseline="0" dirty="0"/>
                        <a:t>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(cell, k = 30,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s(elevation):&lt;2e-16</a:t>
                      </a:r>
                    </a:p>
                    <a:p>
                      <a:r>
                        <a:rPr lang="en-US" sz="1200" baseline="0" dirty="0"/>
                        <a:t>s(cell:  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5601268.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5602463.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1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k = 70,xt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 &lt;2e-16</a:t>
                      </a:r>
                    </a:p>
                    <a:p>
                      <a:r>
                        <a:rPr lang="en-US" sz="1200" baseline="0" dirty="0"/>
                        <a:t>s(cell):&lt;2e-16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s(cell, k = 70,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 &lt;2e-16</a:t>
                      </a:r>
                    </a:p>
                    <a:p>
                      <a:r>
                        <a:rPr lang="en-US" sz="1200" baseline="0" dirty="0"/>
                        <a:t>s(cell): </a:t>
                      </a:r>
                    </a:p>
                    <a:p>
                      <a:r>
                        <a:rPr lang="en-US" sz="1200" baseline="0" dirty="0"/>
                        <a:t>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s(elevation, bs = "</a:t>
                      </a:r>
                      <a:r>
                        <a:rPr lang="en-US" sz="1200" baseline="0" dirty="0" err="1"/>
                        <a:t>cr</a:t>
                      </a:r>
                      <a:r>
                        <a:rPr lang="en-US" sz="1200" baseline="0" dirty="0"/>
                        <a:t>", k = 10) + </a:t>
                      </a:r>
                    </a:p>
                    <a:p>
                      <a:r>
                        <a:rPr lang="en-US" sz="1200" baseline="0" dirty="0"/>
                        <a:t>(cell, k = 70, bs = "</a:t>
                      </a:r>
                      <a:r>
                        <a:rPr lang="en-US" sz="1200" baseline="0" dirty="0" err="1"/>
                        <a:t>mrf</a:t>
                      </a:r>
                      <a:r>
                        <a:rPr lang="en-US" sz="1200" baseline="0" dirty="0"/>
                        <a:t>", </a:t>
                      </a:r>
                      <a:r>
                        <a:rPr lang="en-US" sz="1200" baseline="0" dirty="0" err="1"/>
                        <a:t>xt</a:t>
                      </a:r>
                      <a:r>
                        <a:rPr lang="en-US" sz="1200" baseline="0" dirty="0"/>
                        <a:t> = list(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 = </a:t>
                      </a:r>
                      <a:r>
                        <a:rPr lang="en-US" sz="1200" baseline="0" dirty="0" err="1"/>
                        <a:t>nb</a:t>
                      </a:r>
                      <a:r>
                        <a:rPr lang="en-US" sz="1200" baseline="0" dirty="0"/>
                        <a:t>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s(elevation):&lt;2e-16</a:t>
                      </a:r>
                    </a:p>
                    <a:p>
                      <a:r>
                        <a:rPr lang="en-US" sz="1200" baseline="0" dirty="0"/>
                        <a:t>s(cell:  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6151381.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6151403.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388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>
                    <a:solidFill>
                      <a:srgbClr val="F9E98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>
                    <a:solidFill>
                      <a:srgbClr val="F9E98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>
                    <a:solidFill>
                      <a:srgbClr val="F9E98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>
                    <a:solidFill>
                      <a:srgbClr val="F9E98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>
                    <a:solidFill>
                      <a:srgbClr val="F9E98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>
                    <a:solidFill>
                      <a:srgbClr val="F9E98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>
                    <a:solidFill>
                      <a:srgbClr val="F9E98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>
                    <a:solidFill>
                      <a:srgbClr val="F9E9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893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41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841196"/>
                  </a:ext>
                </a:extLst>
              </a:tr>
              <a:tr h="281525"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835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621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9771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DB2F6A0-78BB-8704-0997-98205599DBD4}"/>
              </a:ext>
            </a:extLst>
          </p:cNvPr>
          <p:cNvSpPr txBox="1"/>
          <p:nvPr/>
        </p:nvSpPr>
        <p:spPr>
          <a:xfrm>
            <a:off x="4866290" y="126124"/>
            <a:ext cx="26495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Alaska Domain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27981-B4CE-1166-C2C9-E7FB5D796888}"/>
              </a:ext>
            </a:extLst>
          </p:cNvPr>
          <p:cNvSpPr txBox="1"/>
          <p:nvPr/>
        </p:nvSpPr>
        <p:spPr>
          <a:xfrm>
            <a:off x="0" y="49179"/>
            <a:ext cx="456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p-value displayed is for the smooth terms. </a:t>
            </a:r>
          </a:p>
        </p:txBody>
      </p:sp>
    </p:spTree>
    <p:extLst>
      <p:ext uri="{BB962C8B-B14F-4D97-AF65-F5344CB8AC3E}">
        <p14:creationId xmlns:p14="http://schemas.microsoft.com/office/powerpoint/2010/main" val="2715787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BD5D1C-9B42-8331-50A9-2D1043F9EBFE}"/>
              </a:ext>
            </a:extLst>
          </p:cNvPr>
          <p:cNvSpPr txBox="1"/>
          <p:nvPr/>
        </p:nvSpPr>
        <p:spPr>
          <a:xfrm>
            <a:off x="1" y="32001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aseline="0" dirty="0"/>
              <a:t>s(elevation, bs = "</a:t>
            </a:r>
            <a:r>
              <a:rPr lang="en-US" sz="1800" baseline="0" dirty="0" err="1"/>
              <a:t>cr</a:t>
            </a:r>
            <a:r>
              <a:rPr lang="en-US" sz="1800" baseline="0" dirty="0"/>
              <a:t>", k = 10) + </a:t>
            </a:r>
          </a:p>
          <a:p>
            <a:r>
              <a:rPr lang="en-US" sz="1800" baseline="0" dirty="0"/>
              <a:t>s(cell, bs = "</a:t>
            </a:r>
            <a:r>
              <a:rPr lang="en-US" sz="1800" baseline="0" dirty="0" err="1"/>
              <a:t>mrf</a:t>
            </a:r>
            <a:r>
              <a:rPr lang="en-US" sz="1800" baseline="0" dirty="0"/>
              <a:t>", k = 70,xt = list(</a:t>
            </a:r>
            <a:r>
              <a:rPr lang="en-US" sz="1800" baseline="0" dirty="0" err="1"/>
              <a:t>nb</a:t>
            </a:r>
            <a:r>
              <a:rPr lang="en-US" sz="1800" baseline="0" dirty="0"/>
              <a:t> = </a:t>
            </a:r>
            <a:r>
              <a:rPr lang="en-US" sz="1800" baseline="0" dirty="0" err="1"/>
              <a:t>nb</a:t>
            </a:r>
            <a:r>
              <a:rPr lang="en-US" sz="1800" baseline="0" dirty="0"/>
              <a:t>)) Weird NAN for parametric terms </a:t>
            </a:r>
            <a:r>
              <a:rPr lang="en-US" dirty="0"/>
              <a:t>location model’s output:  Error, t value, </a:t>
            </a:r>
            <a:r>
              <a:rPr lang="en-US" dirty="0" err="1"/>
              <a:t>Pr</a:t>
            </a:r>
            <a:r>
              <a:rPr lang="en-US" dirty="0"/>
              <a:t>(&gt;|t|).</a:t>
            </a:r>
            <a:endParaRPr lang="en-US" sz="1800" baseline="0" dirty="0"/>
          </a:p>
        </p:txBody>
      </p:sp>
    </p:spTree>
    <p:extLst>
      <p:ext uri="{BB962C8B-B14F-4D97-AF65-F5344CB8AC3E}">
        <p14:creationId xmlns:p14="http://schemas.microsoft.com/office/powerpoint/2010/main" val="102077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2253</Words>
  <Application>Microsoft Macintosh PowerPoint</Application>
  <PresentationFormat>Widescreen</PresentationFormat>
  <Paragraphs>223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Gaelle Hervieux</dc:creator>
  <cp:lastModifiedBy>Gaelle Hervieux</cp:lastModifiedBy>
  <cp:revision>4</cp:revision>
  <dcterms:created xsi:type="dcterms:W3CDTF">2026-01-26T15:59:49Z</dcterms:created>
  <dcterms:modified xsi:type="dcterms:W3CDTF">2026-01-26T21:59:20Z</dcterms:modified>
</cp:coreProperties>
</file>